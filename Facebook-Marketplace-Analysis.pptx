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arlow Light" panose="00000400000000000000" pitchFamily="2" charset="0"/>
      <p:regular r:id="rId13"/>
    </p:embeddedFont>
    <p:embeddedFont>
      <p:font typeface="Montserrat" panose="000005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9" y="4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22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3430072"/>
            <a:ext cx="791658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Facebook Marketplace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4229338"/>
            <a:ext cx="102000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Insights into User Engagement and Post Clustering</a:t>
            </a:r>
            <a:endParaRPr lang="en-US" sz="35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D21DC0-B47E-26D2-AD9E-E6D2A712A6BF}"/>
              </a:ext>
            </a:extLst>
          </p:cNvPr>
          <p:cNvSpPr/>
          <p:nvPr/>
        </p:nvSpPr>
        <p:spPr>
          <a:xfrm>
            <a:off x="0" y="7799294"/>
            <a:ext cx="14630400" cy="430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023" y="592931"/>
            <a:ext cx="10612160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Introduction: Diving into Social Media Data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4023" y="1818561"/>
            <a:ext cx="6980753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analysis explores a rich dataset from Facebook Marketplace, offering a closer look at how users interact with content and how posts can be categorized for better performance.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54023" y="3046809"/>
            <a:ext cx="698075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Overview: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4023" y="3466981"/>
            <a:ext cx="698075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UCI Machine Learning Repository, a valuable resource for data analysis projects.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54023" y="4231958"/>
            <a:ext cx="6980753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Context: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Data collected from Facebook pages of 10 Thai fashion &amp; cosmetics sellers, providing real-world business insights.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54023" y="5341739"/>
            <a:ext cx="698075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Size: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Initially 7050 instances, a robust sample size for statistical analysis.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54023" y="6106716"/>
            <a:ext cx="698075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Attributes: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16 initial attributes, refined to 12 after thorough cleaning to ensure data quality.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54023" y="6871692"/>
            <a:ext cx="698075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Objective: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analyze key engagement metrics and identify natural clusters within post data to inform content strategy.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267938" y="1818561"/>
            <a:ext cx="561594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6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592F2D-D263-25BB-B381-8B0CC75C34CC}"/>
              </a:ext>
            </a:extLst>
          </p:cNvPr>
          <p:cNvSpPr/>
          <p:nvPr/>
        </p:nvSpPr>
        <p:spPr>
          <a:xfrm>
            <a:off x="0" y="7799294"/>
            <a:ext cx="14630400" cy="430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81990"/>
            <a:ext cx="10042327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Data Preprocessing: Refining Raw Data for Insight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58309" y="1598652"/>
            <a:ext cx="13113782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any meaningful analysis can begin, raw data must be meticulously cleaned and prepared. Our process involved several crucial steps to transform the dataset into an actionable format.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348151"/>
            <a:ext cx="866537" cy="10398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98082" y="2521387"/>
            <a:ext cx="2929771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Dropped Redundant Columns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798082" y="2910483"/>
            <a:ext cx="12074009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Removed 'Column1' - 'Column4' due to excessive null values, streamlining the dataset.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3388043"/>
            <a:ext cx="866537" cy="10398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98082" y="3561278"/>
            <a:ext cx="228064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DateTime Conversion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798082" y="3950375"/>
            <a:ext cx="12074009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Transformed 'status_published' into datetime objects for precise temporal analysis of posting trends.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4427934"/>
            <a:ext cx="866537" cy="10398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98082" y="4601170"/>
            <a:ext cx="2395776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Handling Missing Values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1798082" y="4990267"/>
            <a:ext cx="12074009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Applied SimpleImputer with a Mean strategy to numerical columns, ensuring data completeness without skewing results.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09" y="5467826"/>
            <a:ext cx="866537" cy="10398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98082" y="5641062"/>
            <a:ext cx="228064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Feature Engineering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1798082" y="6030158"/>
            <a:ext cx="12074009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Extracted 'Hour' from the timestamp, a critical feature for analyzing time-based engagement patterns.</a:t>
            </a:r>
            <a:endParaRPr lang="en-US" sz="13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309" y="6507718"/>
            <a:ext cx="866537" cy="10398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798082" y="6680954"/>
            <a:ext cx="228064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Encoding &amp; Scaling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1798082" y="7070050"/>
            <a:ext cx="12074009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Utilized OneHotEncoder for 'status_type' and StandardScaler for clustering, preparing data for machine learning models.</a:t>
            </a:r>
            <a:endParaRPr lang="en-US" sz="13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BF9B9F-5396-C262-3AC6-E9EE314F907B}"/>
              </a:ext>
            </a:extLst>
          </p:cNvPr>
          <p:cNvSpPr/>
          <p:nvPr/>
        </p:nvSpPr>
        <p:spPr>
          <a:xfrm>
            <a:off x="0" y="7799294"/>
            <a:ext cx="14630400" cy="430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12125"/>
            <a:ext cx="801921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Q1: How Time Affects Reactions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093476"/>
            <a:ext cx="6974681" cy="43591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69248" y="2066330"/>
            <a:ext cx="5610344" cy="855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Insight - Optimal Posting Times for Engagement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8269248" y="3138011"/>
            <a:ext cx="5610344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Peak Reactions: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Our analysis reveals that posts published in the early morning hours (approximately </a:t>
            </a:r>
            <a:r>
              <a:rPr lang="en-US" sz="1700" dirty="0">
                <a:solidFill>
                  <a:srgbClr val="384653"/>
                </a:solidFill>
                <a:highlight>
                  <a:srgbClr val="E5F6F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AM - 8 AM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consistently achieve higher average engagement rates.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269248" y="4600575"/>
            <a:ext cx="5610344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Implication: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By aligning post schedules with these identified peak windows, content creators can significantly maximize the visibility of their content and enhance overall user reactions.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69248" y="6529030"/>
            <a:ext cx="561034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strategic timing ensures content reaches the audience when they are most active and receptive.</a:t>
            </a:r>
            <a:endParaRPr lang="en-US" sz="17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47C4EF-5EAA-80C3-B668-20CD28AFBF44}"/>
              </a:ext>
            </a:extLst>
          </p:cNvPr>
          <p:cNvSpPr/>
          <p:nvPr/>
        </p:nvSpPr>
        <p:spPr>
          <a:xfrm>
            <a:off x="0" y="7799294"/>
            <a:ext cx="14630400" cy="430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86897"/>
            <a:ext cx="11228427" cy="641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Q2: Correlation between Key Engagement Metrics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040017"/>
            <a:ext cx="5075515" cy="42295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81217" y="2015609"/>
            <a:ext cx="6651784" cy="38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Insight - The Interconnectedness of Engagement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881217" y="2595324"/>
            <a:ext cx="6998375" cy="623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Understanding how different engagement metrics relate to each other is crucial for developing effective social media strategies.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81217" y="3394591"/>
            <a:ext cx="6998375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Comments &amp; Shares:</a:t>
            </a: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particularly strong positive correlation (approximately </a:t>
            </a:r>
            <a:r>
              <a:rPr lang="en-US" sz="1500" dirty="0">
                <a:solidFill>
                  <a:srgbClr val="384653"/>
                </a:solidFill>
                <a:highlight>
                  <a:srgbClr val="E5F6F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0.64</a:t>
            </a: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exists between comments and shares. This suggests that highly shareable content often sparks more discussion.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81217" y="4710589"/>
            <a:ext cx="6998375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Reactions &amp; Shares:</a:t>
            </a: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We also observed a moderate positive correlation between overall reactions (likes, loves, etc.) and shares, indicating that emotionally resonant content is more likely to be spread.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81217" y="6026587"/>
            <a:ext cx="6998375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Conclusion:</a:t>
            </a: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Posts that achieve high shareability tend to generate a greater volume of comments. This highlights the "viral potential" of content that encourages users to both spread the message and interact with it.</a:t>
            </a:r>
            <a:endParaRPr lang="en-US" sz="15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F466B2-8B9D-649E-157C-4D0AE1FD93A7}"/>
              </a:ext>
            </a:extLst>
          </p:cNvPr>
          <p:cNvSpPr/>
          <p:nvPr/>
        </p:nvSpPr>
        <p:spPr>
          <a:xfrm>
            <a:off x="0" y="7799294"/>
            <a:ext cx="14630400" cy="430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04612"/>
            <a:ext cx="11914584" cy="605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Q5: Distribution of Post Types on Facebook Marketplace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1793677"/>
            <a:ext cx="5958721" cy="37241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5552" y="1770578"/>
            <a:ext cx="5654040" cy="726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Insight - Visual Content Dominates the Landscape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8225552" y="2681407"/>
            <a:ext cx="5654040" cy="884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type of content published significantly impacts its prevalence and potentially its engagement on Facebook Marketplace.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225552" y="3731181"/>
            <a:ext cx="5654040" cy="884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Photos: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By far the most dominant content type, with </a:t>
            </a:r>
            <a:r>
              <a:rPr lang="en-US" sz="1450" dirty="0">
                <a:solidFill>
                  <a:srgbClr val="384653"/>
                </a:solidFill>
                <a:highlight>
                  <a:srgbClr val="E5F6F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4288 posts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This underscores the importance of high-quality imagery.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5552" y="4679633"/>
            <a:ext cx="5654040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Videos: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Ranking as the second most common, with </a:t>
            </a:r>
            <a:r>
              <a:rPr lang="en-US" sz="1450" dirty="0">
                <a:solidFill>
                  <a:srgbClr val="384653"/>
                </a:solidFill>
                <a:highlight>
                  <a:srgbClr val="E5F6F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2334 posts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videos also play a critical role in content strategy.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5552" y="5333405"/>
            <a:ext cx="5654040" cy="884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 &amp; Links: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These post types appear significantly less frequently, indicating a preference for rich media content over text-only updates or external links.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5552" y="6281857"/>
            <a:ext cx="5654040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Strategy: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platform is unequivocally visual. A strong content strategy should prioritize compelling images and engaging videos to capture audience attention and drive interactions.</a:t>
            </a:r>
            <a:endParaRPr lang="en-US" sz="14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CB1056-E965-3893-0A08-7D53338BA983}"/>
              </a:ext>
            </a:extLst>
          </p:cNvPr>
          <p:cNvSpPr/>
          <p:nvPr/>
        </p:nvSpPr>
        <p:spPr>
          <a:xfrm>
            <a:off x="0" y="7799294"/>
            <a:ext cx="14630400" cy="430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99386"/>
            <a:ext cx="11503581" cy="605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Q6: Average Engagement Across Different Post Types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58309" y="1773317"/>
            <a:ext cx="1311378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deeper dive into the average reactions, comments, and shares reveals nuanced performance differences between various post formats.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58309" y="2275165"/>
            <a:ext cx="13113782" cy="2669738"/>
          </a:xfrm>
          <a:prstGeom prst="roundRect">
            <a:avLst>
              <a:gd name="adj" fmla="val 1034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929" y="2282785"/>
            <a:ext cx="13098542" cy="5309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50238" y="2400895"/>
            <a:ext cx="290262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 Type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228624" y="2400895"/>
            <a:ext cx="289881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Reactions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503200" y="2400895"/>
            <a:ext cx="289881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Comments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777776" y="2400895"/>
            <a:ext cx="290262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Shares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65929" y="2813685"/>
            <a:ext cx="13098542" cy="5309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50238" y="2931795"/>
            <a:ext cx="290262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228624" y="2931795"/>
            <a:ext cx="289881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370.1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503200" y="2931795"/>
            <a:ext cx="289881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5.7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777776" y="2931795"/>
            <a:ext cx="290262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4.4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65929" y="3344585"/>
            <a:ext cx="13098542" cy="5309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50238" y="3462695"/>
            <a:ext cx="290262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228624" y="3462695"/>
            <a:ext cx="289881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181.3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503200" y="3462695"/>
            <a:ext cx="289881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16.0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777776" y="3462695"/>
            <a:ext cx="290262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2.6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65929" y="3875484"/>
            <a:ext cx="13098542" cy="5309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50238" y="3993594"/>
            <a:ext cx="290262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228624" y="3993594"/>
            <a:ext cx="289881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438.8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503200" y="3993594"/>
            <a:ext cx="289881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36.2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0777776" y="3993594"/>
            <a:ext cx="290262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2.6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65929" y="4406384"/>
            <a:ext cx="13098542" cy="5309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50238" y="4524494"/>
            <a:ext cx="290262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228624" y="4524494"/>
            <a:ext cx="289881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283.4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503200" y="4524494"/>
            <a:ext cx="289881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642.5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0777776" y="4524494"/>
            <a:ext cx="290262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115.7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758309" y="5152072"/>
            <a:ext cx="4248507" cy="2278142"/>
          </a:xfrm>
          <a:prstGeom prst="roundRect">
            <a:avLst>
              <a:gd name="adj" fmla="val 1212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000" y="5343763"/>
            <a:ext cx="3865126" cy="60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Video Dominance in Comments &amp; Shares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50000" y="6059805"/>
            <a:ext cx="3865126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While photos are frequent, videos lead by a wide margin in average comments and shares, indicating their powerful ability to drive active interaction and virality.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5190887" y="5152072"/>
            <a:ext cx="4248507" cy="2278142"/>
          </a:xfrm>
          <a:prstGeom prst="roundRect">
            <a:avLst>
              <a:gd name="adj" fmla="val 1212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82578" y="5343763"/>
            <a:ext cx="2853571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Status Posts for Reactions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5382578" y="5757029"/>
            <a:ext cx="3865126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Interestingly, 'status' posts show the highest average reactions, suggesting that direct, concise textual updates can still resonate strongly with the audience.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9623465" y="5152072"/>
            <a:ext cx="4248507" cy="2278142"/>
          </a:xfrm>
          <a:prstGeom prst="roundRect">
            <a:avLst>
              <a:gd name="adj" fmla="val 1212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15155" y="5343763"/>
            <a:ext cx="2885956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Link Posts for Broad Reach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9815155" y="5757029"/>
            <a:ext cx="3865126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posts generate substantial reactions, making them effective for directing traffic while maintaining a decent level of passive engagement.</a:t>
            </a:r>
            <a:endParaRPr lang="en-US" sz="145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6E5C30F-3993-51D7-4D60-DD6B5F4EAEF6}"/>
              </a:ext>
            </a:extLst>
          </p:cNvPr>
          <p:cNvSpPr/>
          <p:nvPr/>
        </p:nvSpPr>
        <p:spPr>
          <a:xfrm>
            <a:off x="0" y="7799294"/>
            <a:ext cx="14630400" cy="430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25711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Clustering Methodology: Segmenting Posts for Targeted Strategies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784396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uncover distinct patterns in post performance, we employed K-Means Clustering, a powerful unsupervised machine learning technique.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3721537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4059079"/>
            <a:ext cx="4226838" cy="3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309" y="422826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Feature Selection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8309" y="4714399"/>
            <a:ext cx="4226838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Selected features included 'status_type' (one-hot encoded) and all engagement metrics: reactions, comments, shares, likes, loves, wows, hahas, and angrys. This comprehensive set ensures a holistic view of engagement.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201722" y="3721537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722" y="4080748"/>
            <a:ext cx="4226838" cy="30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01722" y="422826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Data Scaling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201722" y="4714399"/>
            <a:ext cx="4226838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Standard Scaler was applied to normalize the broad range of numerical engagement figures. This prevents features with larger values from disproportionately influencing the clustering algorithm.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9645134" y="3721537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7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134" y="4080748"/>
            <a:ext cx="4226957" cy="30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45134" y="4228267"/>
            <a:ext cx="317539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Optimal 'K' Determination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9645134" y="4714399"/>
            <a:ext cx="4226957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Elbow Method was utilized to identify the most appropriate number of clusters ('K'). This method helps in finding a balance where adding more clusters doesn't significantly improve the model fit.</a:t>
            </a:r>
            <a:endParaRPr lang="en-US" sz="17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32B26E-548E-933B-EFBC-8B0D9BA788E4}"/>
              </a:ext>
            </a:extLst>
          </p:cNvPr>
          <p:cNvSpPr/>
          <p:nvPr/>
        </p:nvSpPr>
        <p:spPr>
          <a:xfrm>
            <a:off x="0" y="7799294"/>
            <a:ext cx="14630400" cy="430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29427"/>
            <a:ext cx="13113782" cy="1140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Clustering Results: Identifying Optimal Segments with the Elbow Method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724388"/>
            <a:ext cx="5617726" cy="35110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11026" y="2702719"/>
            <a:ext cx="5401032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Optimal Clusters: Visualizing the Elbow Point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211026" y="3218021"/>
            <a:ext cx="5668566" cy="83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Elbow Graph is a key visualization for determining the ideal number of clusters in K-Means. It plots the Within-Cluster Sum of Squares (WCSS) against the number of clusters (K).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211026" y="4205883"/>
            <a:ext cx="5668566" cy="1109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'Elbow' Point: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Observing the graph, the most significant bend, or 'elbow,' appears to be around </a:t>
            </a:r>
            <a:r>
              <a:rPr lang="en-US" sz="1350" dirty="0">
                <a:solidFill>
                  <a:srgbClr val="384653"/>
                </a:solidFill>
                <a:highlight>
                  <a:srgbClr val="E5F6F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K=3 or K=4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Beyond this point, the decrease in WCSS becomes marginal, suggesting diminishing returns for adding more clusters.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11026" y="5375672"/>
            <a:ext cx="5668566" cy="166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Interpretation: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This indicates that dividing posts into </a:t>
            </a:r>
            <a:r>
              <a:rPr lang="en-US" sz="13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to 4 distinct clusters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—for instance, representing Low, Medium, and High engagement categories—provides the most meaningful and efficient segmentation for this dataset. This segmentation allows for tailored content strategies based on distinct engagement patterns.</a:t>
            </a:r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2E15B3-8CE0-96C7-D4D4-8DF7C56828C5}"/>
              </a:ext>
            </a:extLst>
          </p:cNvPr>
          <p:cNvSpPr/>
          <p:nvPr/>
        </p:nvSpPr>
        <p:spPr>
          <a:xfrm>
            <a:off x="0" y="7799294"/>
            <a:ext cx="14630400" cy="430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87385"/>
            <a:ext cx="12764691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Conclusion: Key Takeaways for Enhanced Social Media Strategy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58309" y="1904048"/>
            <a:ext cx="13113782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comprehensive analysis of Facebook Marketplace data yields actionable insights for optimizing content and engagement.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58309" y="2636163"/>
            <a:ext cx="6470213" cy="1850350"/>
          </a:xfrm>
          <a:prstGeom prst="roundRect">
            <a:avLst>
              <a:gd name="adj" fmla="val 5930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613303"/>
            <a:ext cx="6470213" cy="914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383" y="2376249"/>
            <a:ext cx="519946" cy="519946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89355" y="2532221"/>
            <a:ext cx="207883" cy="20788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4405" y="3069431"/>
            <a:ext cx="228064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Content Dominance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954405" y="3458528"/>
            <a:ext cx="6078022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Photos and Videos are the primary content drivers, highlighting the need for visually rich and engaging media in your strategy.</a:t>
            </a:r>
            <a:endParaRPr lang="en-US" sz="1350" dirty="0"/>
          </a:p>
        </p:txBody>
      </p:sp>
      <p:sp>
        <p:nvSpPr>
          <p:cNvPr id="10" name="Shape 5"/>
          <p:cNvSpPr/>
          <p:nvPr/>
        </p:nvSpPr>
        <p:spPr>
          <a:xfrm>
            <a:off x="7401758" y="2636163"/>
            <a:ext cx="6470332" cy="1850350"/>
          </a:xfrm>
          <a:prstGeom prst="roundRect">
            <a:avLst>
              <a:gd name="adj" fmla="val 5930"/>
            </a:avLst>
          </a:prstGeom>
          <a:solidFill>
            <a:srgbClr val="FFFFFF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758" y="2613303"/>
            <a:ext cx="6470332" cy="9144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6952" y="2376249"/>
            <a:ext cx="519946" cy="519946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32924" y="2532221"/>
            <a:ext cx="207883" cy="207883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597854" y="3069431"/>
            <a:ext cx="228064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Strategic Timing</a:t>
            </a:r>
            <a:endParaRPr lang="en-US" sz="1750" dirty="0"/>
          </a:p>
        </p:txBody>
      </p:sp>
      <p:sp>
        <p:nvSpPr>
          <p:cNvPr id="15" name="Text 7"/>
          <p:cNvSpPr/>
          <p:nvPr/>
        </p:nvSpPr>
        <p:spPr>
          <a:xfrm>
            <a:off x="7597854" y="3458528"/>
            <a:ext cx="6078141" cy="83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Posting in the early morning hours (6-8 AM) directly correlates with higher average reactions, suggesting optimal times for content distribution.</a:t>
            </a:r>
            <a:endParaRPr lang="en-US" sz="1350" dirty="0"/>
          </a:p>
        </p:txBody>
      </p:sp>
      <p:sp>
        <p:nvSpPr>
          <p:cNvPr id="16" name="Shape 8"/>
          <p:cNvSpPr/>
          <p:nvPr/>
        </p:nvSpPr>
        <p:spPr>
          <a:xfrm>
            <a:off x="758309" y="4919663"/>
            <a:ext cx="6470213" cy="1573054"/>
          </a:xfrm>
          <a:prstGeom prst="roundRect">
            <a:avLst>
              <a:gd name="adj" fmla="val 6975"/>
            </a:avLst>
          </a:prstGeom>
          <a:solidFill>
            <a:srgbClr val="FFFFFF"/>
          </a:solidFill>
          <a:ln/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4896803"/>
            <a:ext cx="6470213" cy="9144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383" y="4659749"/>
            <a:ext cx="519946" cy="519946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89355" y="4815721"/>
            <a:ext cx="207883" cy="207883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954405" y="5352931"/>
            <a:ext cx="228064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Interaction Synergy</a:t>
            </a:r>
            <a:endParaRPr lang="en-US" sz="1750" dirty="0"/>
          </a:p>
        </p:txBody>
      </p:sp>
      <p:sp>
        <p:nvSpPr>
          <p:cNvPr id="21" name="Text 10"/>
          <p:cNvSpPr/>
          <p:nvPr/>
        </p:nvSpPr>
        <p:spPr>
          <a:xfrm>
            <a:off x="954405" y="5742027"/>
            <a:ext cx="6078022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Shares and Comments are closely linked; focusing on shareable content can significantly boost discussion and overall virality.</a:t>
            </a:r>
            <a:endParaRPr lang="en-US" sz="1350" dirty="0"/>
          </a:p>
        </p:txBody>
      </p:sp>
      <p:sp>
        <p:nvSpPr>
          <p:cNvPr id="22" name="Shape 11"/>
          <p:cNvSpPr/>
          <p:nvPr/>
        </p:nvSpPr>
        <p:spPr>
          <a:xfrm>
            <a:off x="7401758" y="4919663"/>
            <a:ext cx="6470332" cy="1573054"/>
          </a:xfrm>
          <a:prstGeom prst="roundRect">
            <a:avLst>
              <a:gd name="adj" fmla="val 6975"/>
            </a:avLst>
          </a:prstGeom>
          <a:solidFill>
            <a:srgbClr val="FFFFFF"/>
          </a:solidFill>
          <a:ln/>
        </p:spPr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758" y="4896803"/>
            <a:ext cx="6470332" cy="91440"/>
          </a:xfrm>
          <a:prstGeom prst="rect">
            <a:avLst/>
          </a:prstGeom>
        </p:spPr>
      </p:pic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6952" y="4659749"/>
            <a:ext cx="519946" cy="519946"/>
          </a:xfrm>
          <a:prstGeom prst="rect">
            <a:avLst/>
          </a:prstGeom>
        </p:spPr>
      </p:pic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32924" y="4815721"/>
            <a:ext cx="207883" cy="207883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7597854" y="5352931"/>
            <a:ext cx="2429828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Audience Segmentation</a:t>
            </a:r>
            <a:endParaRPr lang="en-US" sz="1750" dirty="0"/>
          </a:p>
        </p:txBody>
      </p:sp>
      <p:sp>
        <p:nvSpPr>
          <p:cNvPr id="27" name="Text 13"/>
          <p:cNvSpPr/>
          <p:nvPr/>
        </p:nvSpPr>
        <p:spPr>
          <a:xfrm>
            <a:off x="7597854" y="5742027"/>
            <a:ext cx="6078141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Posts naturally group into approximately 3 distinct clusters based on engagement performance, enabling highly targeted content creation.</a:t>
            </a:r>
            <a:endParaRPr lang="en-US" sz="1350" dirty="0"/>
          </a:p>
        </p:txBody>
      </p:sp>
      <p:sp>
        <p:nvSpPr>
          <p:cNvPr id="28" name="Text 14"/>
          <p:cNvSpPr/>
          <p:nvPr/>
        </p:nvSpPr>
        <p:spPr>
          <a:xfrm>
            <a:off x="758309" y="6687622"/>
            <a:ext cx="13113782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leveraging these insights, marketing managers and data analysts can refine their Facebook Marketplace strategies to achieve superior engagement and business outcomes.</a:t>
            </a:r>
            <a:endParaRPr lang="en-US" sz="13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9BD24F-0B8B-E0E8-4ED9-B966700A026A}"/>
              </a:ext>
            </a:extLst>
          </p:cNvPr>
          <p:cNvSpPr/>
          <p:nvPr/>
        </p:nvSpPr>
        <p:spPr>
          <a:xfrm>
            <a:off x="0" y="7799294"/>
            <a:ext cx="14630400" cy="430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1213</Words>
  <Application>Microsoft Office PowerPoint</Application>
  <PresentationFormat>Custom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Montserrat</vt:lpstr>
      <vt:lpstr>Barlow Light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Pulkit Gupta</cp:lastModifiedBy>
  <cp:revision>3</cp:revision>
  <dcterms:created xsi:type="dcterms:W3CDTF">2025-12-28T09:01:52Z</dcterms:created>
  <dcterms:modified xsi:type="dcterms:W3CDTF">2025-12-28T09:06:15Z</dcterms:modified>
</cp:coreProperties>
</file>